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разбиения</c:v>
                </c:pt>
              </c:strCache>
            </c:strRef>
          </c:tx>
          <c:spPr>
            <a:solidFill>
              <a:srgbClr val="969C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79,4</c:v>
                  </c:pt>
                  <c:pt idx="1">
                    <c:v>81,0</c:v>
                  </c:pt>
                  <c:pt idx="2">
                    <c:v>82,5</c:v>
                  </c:pt>
                  <c:pt idx="3">
                    <c:v>84,1</c:v>
                  </c:pt>
                  <c:pt idx="4">
                    <c:v>85,7</c:v>
                  </c:pt>
                  <c:pt idx="5">
                    <c:v>87,3</c:v>
                  </c:pt>
                  <c:pt idx="6">
                    <c:v>88,9</c:v>
                  </c:pt>
                  <c:pt idx="7">
                    <c:v>90,5</c:v>
                  </c:pt>
                  <c:pt idx="8">
                    <c:v>92,1</c:v>
                  </c:pt>
                  <c:pt idx="9">
                    <c:v>93,7</c:v>
                  </c:pt>
                  <c:pt idx="10">
                    <c:v>95,2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17</c:v>
                </c:pt>
                <c:pt idx="4">
                  <c:v>13</c:v>
                </c:pt>
                <c:pt idx="5">
                  <c:v>14</c:v>
                </c:pt>
                <c:pt idx="6">
                  <c:v>17</c:v>
                </c:pt>
                <c:pt idx="7">
                  <c:v>9</c:v>
                </c:pt>
                <c:pt idx="8">
                  <c:v>0</c:v>
                </c:pt>
                <c:pt idx="9">
                  <c:v>4</c:v>
                </c:pt>
                <c:pt idx="10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как в Б1.2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79,4</c:v>
                  </c:pt>
                  <c:pt idx="1">
                    <c:v>81,0</c:v>
                  </c:pt>
                  <c:pt idx="2">
                    <c:v>82,5</c:v>
                  </c:pt>
                  <c:pt idx="3">
                    <c:v>84,1</c:v>
                  </c:pt>
                  <c:pt idx="4">
                    <c:v>85,7</c:v>
                  </c:pt>
                  <c:pt idx="5">
                    <c:v>87,3</c:v>
                  </c:pt>
                  <c:pt idx="6">
                    <c:v>88,9</c:v>
                  </c:pt>
                  <c:pt idx="7">
                    <c:v>90,5</c:v>
                  </c:pt>
                  <c:pt idx="8">
                    <c:v>92,1</c:v>
                  </c:pt>
                  <c:pt idx="9">
                    <c:v>93,7</c:v>
                  </c:pt>
                  <c:pt idx="10">
                    <c:v>95,2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9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 на валидации, %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число разбиений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обычная нарезка</c:v>
                </c:pt>
              </c:strCache>
            </c:strRef>
          </c:tx>
          <c:spPr>
            <a:solidFill>
              <a:srgbClr val="969C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блок 1</c:v>
                  </c:pt>
                  <c:pt idx="1">
                    <c:v>блок 2</c:v>
                  </c:pt>
                  <c:pt idx="2">
                    <c:v>блок 3</c:v>
                  </c:pt>
                  <c:pt idx="3">
                    <c:v>блок 4</c:v>
                  </c:pt>
                  <c:pt idx="4">
                    <c:v>блок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1</c:v>
                </c:pt>
                <c:pt idx="4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стратифицированная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блок 1</c:v>
                  </c:pt>
                  <c:pt idx="1">
                    <c:v>блок 2</c:v>
                  </c:pt>
                  <c:pt idx="2">
                    <c:v>блок 3</c:v>
                  </c:pt>
                  <c:pt idx="3">
                    <c:v>блок 4</c:v>
                  </c:pt>
                  <c:pt idx="4">
                    <c:v>блок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велосипедистов в блоке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евклидово</c:v>
                </c:pt>
              </c:strCache>
            </c:strRef>
          </c:tx>
          <c:spPr>
            <a:solidFill>
              <a:srgbClr val="4C9BFF"/>
            </a:solidFill>
            <a:ln w="25400" cap="flat">
              <a:solidFill>
                <a:srgbClr val="4C9B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C9BFF"/>
              </a:solidFill>
              <a:ln w="9525" cap="flat">
                <a:solidFill>
                  <a:srgbClr val="4C9B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  <c:pt idx="12">
                    <c:v>25</c:v>
                  </c:pt>
                  <c:pt idx="13">
                    <c:v>27</c:v>
                  </c:pt>
                  <c:pt idx="14">
                    <c:v>29</c:v>
                  </c:pt>
                  <c:pt idx="15">
                    <c:v>31</c:v>
                  </c:pt>
                  <c:pt idx="16">
                    <c:v>33</c:v>
                  </c:pt>
                  <c:pt idx="17">
                    <c:v>35</c:v>
                  </c:pt>
                  <c:pt idx="18">
                    <c:v>37</c:v>
                  </c:pt>
                  <c:pt idx="19">
                    <c:v>39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0.829</c:v>
                </c:pt>
                <c:pt idx="1">
                  <c:v>0.881</c:v>
                </c:pt>
                <c:pt idx="2">
                  <c:v>0.876</c:v>
                </c:pt>
                <c:pt idx="3">
                  <c:v>0.886</c:v>
                </c:pt>
                <c:pt idx="4">
                  <c:v>0.886</c:v>
                </c:pt>
                <c:pt idx="5">
                  <c:v>0.876</c:v>
                </c:pt>
                <c:pt idx="6">
                  <c:v>0.89</c:v>
                </c:pt>
                <c:pt idx="7">
                  <c:v>0.876</c:v>
                </c:pt>
                <c:pt idx="8">
                  <c:v>0.857</c:v>
                </c:pt>
                <c:pt idx="9">
                  <c:v>0.857</c:v>
                </c:pt>
                <c:pt idx="10">
                  <c:v>0.871</c:v>
                </c:pt>
                <c:pt idx="11">
                  <c:v>0.867</c:v>
                </c:pt>
                <c:pt idx="12">
                  <c:v>0.857</c:v>
                </c:pt>
                <c:pt idx="13">
                  <c:v>0.848</c:v>
                </c:pt>
                <c:pt idx="14">
                  <c:v>0.857</c:v>
                </c:pt>
                <c:pt idx="15">
                  <c:v>0.852</c:v>
                </c:pt>
                <c:pt idx="16">
                  <c:v>0.852</c:v>
                </c:pt>
                <c:pt idx="17">
                  <c:v>0.843</c:v>
                </c:pt>
                <c:pt idx="18">
                  <c:v>0.838</c:v>
                </c:pt>
                <c:pt idx="19">
                  <c:v>0.848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манхэттенское</c:v>
                </c:pt>
              </c:strCache>
            </c:strRef>
          </c:tx>
          <c:spPr>
            <a:solidFill>
              <a:srgbClr val="969CA3"/>
            </a:solidFill>
            <a:ln w="25400" cap="flat">
              <a:solidFill>
                <a:srgbClr val="969C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69CA3"/>
              </a:solidFill>
              <a:ln w="9525" cap="flat">
                <a:solidFill>
                  <a:srgbClr val="969C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7</c:v>
                  </c:pt>
                  <c:pt idx="4">
                    <c:v>9</c:v>
                  </c:pt>
                  <c:pt idx="5">
                    <c:v>11</c:v>
                  </c:pt>
                  <c:pt idx="6">
                    <c:v>13</c:v>
                  </c:pt>
                  <c:pt idx="7">
                    <c:v>15</c:v>
                  </c:pt>
                  <c:pt idx="8">
                    <c:v>17</c:v>
                  </c:pt>
                  <c:pt idx="9">
                    <c:v>19</c:v>
                  </c:pt>
                  <c:pt idx="10">
                    <c:v>21</c:v>
                  </c:pt>
                  <c:pt idx="11">
                    <c:v>23</c:v>
                  </c:pt>
                  <c:pt idx="12">
                    <c:v>25</c:v>
                  </c:pt>
                  <c:pt idx="13">
                    <c:v>27</c:v>
                  </c:pt>
                  <c:pt idx="14">
                    <c:v>29</c:v>
                  </c:pt>
                  <c:pt idx="15">
                    <c:v>31</c:v>
                  </c:pt>
                  <c:pt idx="16">
                    <c:v>33</c:v>
                  </c:pt>
                  <c:pt idx="17">
                    <c:v>35</c:v>
                  </c:pt>
                  <c:pt idx="18">
                    <c:v>37</c:v>
                  </c:pt>
                  <c:pt idx="19">
                    <c:v>39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0.824</c:v>
                </c:pt>
                <c:pt idx="1">
                  <c:v>0.876</c:v>
                </c:pt>
                <c:pt idx="2">
                  <c:v>0.876</c:v>
                </c:pt>
                <c:pt idx="3">
                  <c:v>0.876</c:v>
                </c:pt>
                <c:pt idx="4">
                  <c:v>0.881</c:v>
                </c:pt>
                <c:pt idx="5">
                  <c:v>0.881</c:v>
                </c:pt>
                <c:pt idx="6">
                  <c:v>0.876</c:v>
                </c:pt>
                <c:pt idx="7">
                  <c:v>0.871</c:v>
                </c:pt>
                <c:pt idx="8">
                  <c:v>0.867</c:v>
                </c:pt>
                <c:pt idx="9">
                  <c:v>0.862</c:v>
                </c:pt>
                <c:pt idx="10">
                  <c:v>0.867</c:v>
                </c:pt>
                <c:pt idx="11">
                  <c:v>0.862</c:v>
                </c:pt>
                <c:pt idx="12">
                  <c:v>0.857</c:v>
                </c:pt>
                <c:pt idx="13">
                  <c:v>0.852</c:v>
                </c:pt>
                <c:pt idx="14">
                  <c:v>0.848</c:v>
                </c:pt>
                <c:pt idx="15">
                  <c:v>0.848</c:v>
                </c:pt>
                <c:pt idx="16">
                  <c:v>0.848</c:v>
                </c:pt>
                <c:pt idx="17">
                  <c:v>0.843</c:v>
                </c:pt>
                <c:pt idx="18">
                  <c:v>0.838</c:v>
                </c:pt>
                <c:pt idx="19">
                  <c:v>0.843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k – число соседей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8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точность, CV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86F7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rgbClr val="4C9BF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86F7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0.68</c:v>
                </c:pt>
                <c:pt idx="1">
                  <c:v>0.904</c:v>
                </c:pt>
                <c:pt idx="2">
                  <c:v>0.912</c:v>
                </c:pt>
                <c:pt idx="3">
                  <c:v>0.912</c:v>
                </c:pt>
                <c:pt idx="4">
                  <c:v>0.912</c:v>
                </c:pt>
                <c:pt idx="5">
                  <c:v>0.912</c:v>
                </c:pt>
                <c:pt idx="6">
                  <c:v>0.912</c:v>
                </c:pt>
                <c:pt idx="7">
                  <c:v>0.912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00" u="none">
                  <a:solidFill>
                    <a:srgbClr val="686F7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max_depth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86F7B"/>
                    </a:solidFill>
                    <a:latin typeface="Arial"/>
                  </a:defRPr>
                </a:pPr>
                <a:r>
                  <a:rPr sz="800" b="0" i="0" u="none" strike="noStrike">
                    <a:solidFill>
                      <a:srgbClr val="686F7B"/>
                    </a:solidFill>
                    <a:latin typeface="Arial"/>
                  </a:rPr>
                  <a:t>точность, CV по 5 блокам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</c:v>
                </c:pt>
              </c:strCache>
            </c:strRef>
          </c:tx>
          <c:spPr>
            <a:solidFill>
              <a:srgbClr val="0F1B2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1B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C9B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отбор 10 признаков по всей таблице</c:v>
                  </c:pt>
                  <c:pt idx="1">
                    <c:v>отбор внутри каждого раунда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0.817</c:v>
                </c:pt>
                <c:pt idx="1">
                  <c:v>0.433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8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86F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завершаем разговор о том, как честно оценить модель. В Блоке 1 мы уже делили данные на обучающую, валидационную и тестовую выборки и подбирали k для kNN и глубину дерева по одной валидационной выборке. Сегодня выясним, почему одной валидации мало, и научимся кросс-валидации – способу, который используют во всех реальных проектах. На картинке справа – главная схема занятия: пять раундов, в каждом свой блок данных служит проверкой. К концу занятия каждый должен уметь объяснить эту схему и написать ее сам на чистом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Задайте вопрос классу и дайте подумать минуту: в Б1.2 мы выбрали k = 9 и получили 92 % на валидации. Что будет, если перемешать данные по-другому? Обычно отвечают «примерно то же самое». Покажите картинку слева: это 100 повторов того же опыта с разными seed. Модель одна, данные одни, а точность разбегается от 79 до 95 %. Синий столбик – наш результат из Б1.2, и он оказался справа, среди удачных. Спросите: какому числу теперь верить? Сегодня найдем ответ.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Сначала разберемся, что именно мы подбираем, и измерим, насколько ненадежна оценка по одной валидационной выборке.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Два слова, которые важно различать. Параметры модель находит сама во время обучения: веса логистической регрессии, вопросы и пороги дерева. Гиперпараметры задаем мы до обучения: k и вид расстояния в kNN, глубину дерева, скорость обучения градиентного спуска. У kNN параметров, по сути, нет: он просто запоминает обучающую выборку. Почему гиперпараметры нельзя выбрать по обучающей выборке? Спросите класс, какую точность на обучающей выборке даст kNN с k = 1. Ответ: 100 %, каждый объект – сам себе ближайший сосед. Дерево без ограничения глубины тоже выучит обучающую выборку наизусть. Выбор по обучающей выборке всегда приведет к самой сложной модели, поэтому для выбора нужны данные, которых модель не видела. Об этом пишет и Гудфеллоу в разделе 5.3: валидационную выборку он называет контрольным набором.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результат из задания К1. Модель kNN с k = 9 на данных беспилотника, 147 объектов на обучение, 63 на валидацию; меняется только seed перемешивания. Получили 100 оценок от 79,4 до 95,2 %, среднее 86,9 %, стандартное отклонение 3,6 %. Почему такой разброс? В валидации всего 63 объекта, один объект – это 1,6 % точности. Если в валидацию случайно попали три-четыре трудных велосипедиста, похожих на пешеходов, оценка падает на 5–6 %. Наши 92 % из Б1.2 – справа, это удачный seed. Спросите: какую точность вы бы сообщили заказчику беспилотника?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Разброс оценки мешает не только измерять качество, но и выбирать. Повторим выбор k из Б1.2 при seed от 0 до 19. Получили 8 разных ответов: от 3 до 19. Наше k = 9 выбрано 7 раз из 20, то есть чаще других, но далеко не всегда. Причина: разница в качестве между соседними k около 1 %, а случайный разброс оценки – 3–4 %. Сравнивать k по одной валидации – все равно что выбирать лучшего стрелка по одному выстрелу. Вывод: нужна оценка, которая опирается на все данные и меньше зависит от случая.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Главная идея занятия – кросс-валидация, или перекрестная проверка. Разберем обычную K-блочную, стратифицированную и крайний случай – скользящий контроль по одному объекту.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схему на доске. Перемешиваем обучающую выборку и режем на K блоков, здесь K = 5 по 42 объекта. Раунд 1: блок 1 – валидация, блоки 2–5 – обучение, получаем точность a1. Раунд 2: валидация – блок 2, и так далее. После пяти раундов каждый объект ровно один раз был в валидации и четыре раза в обучении. Итог – среднее пяти точностей: 0,876, а стандартное отклонение по блокам 0,023 показывает, насколько по-разному модель справляется с разными кусками данных. Это алгоритм 5.1 из книги Гудфеллоу, раздел 5.3.1. Обратите внимание на обозначения: число блоков пишем большой буквой K, чтобы не путать с числом соседей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нарезать блоки в коде. Номера объектов от 0 до n − 1 перемешиваем тем же random.Random(seed).shuffle, что и в train_test_split, а потом режем подряд. Если n не делится на K, остаток раздаем первым блокам по одному объекту: для 10 объектов и 3 блоков размеры 4, 3, 3, для 11 объектов – 4, 4, 3. Так же режет KFold из sklearn. Разберите пример на доске: после перемешивания получили 7, 8, 1, 5, 3, 4, 2, 0, 9, 6, первые четыре номера – блок 1, следующие три – блок 2, последние три – блок 3. Справа – решение задания К2, его пишут сами ученики. Спросите: зачем перемешивать? Если данные записаны по классам, без перемешивания каждый блок состоял бы из одного класса.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Посчитайте вместе с классом. В каждом блоке 42 объекта, модель угадала 37, 38, 37, 35 и 37. Точности: 0,881, 0,905, 0,881, 0,833, 0,881. Среднее – 0,876, то же самое, что 184 угаданных из 210. Сравните с одной валидацией из Б1.2: 0,921. Кросс-валидация дала на 4,5 % меньше. Кто прав? Эксперимент со ста разбиениями показал, что в среднем одна валидация дает 0,869, значит, 0,921 – это удача, почти полтора стандартных отклонения выше среднего. Кросс-валидация проверила модель на всех 210 объектах, и ей можно доверять больше. Цена – 5 обучений вместо одного.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 редкого класса. Оставим в данных только 10 велосипедистов из 69. При обычной нарезке на 5 блоков велосипедисты распределяются как повезет: в примере 0, 2, 4, 1, 3. В раунде, где их ноль, модель не проверяется на велосипедистах вообще, а где их 4 – проверка строже остальных. Такое случается в 49 нарезках из 100. Стратифицированная нарезка кладет в каждый блок по 2 велосипедиста. Алгоритм простой, как раздача карт: разложили номера по классам, перемешали внутри каждого класса и раздаем по блокам по кругу. Это задание К4. Для классификации стратификацию используют всегда; в Б1.1 мы так же стратифицировали разделение на обучение и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Крайний случай кросс-валидации – скользящий контроль по одному объекту: число блоков равно числу объектов. В каждом раунде проверяем один объект, модель учится на остальных 209. Точность раунда – 1 или 0, а среднее – доля угаданных объектов. У этого способа нет случайности: перемешивать нечего, при любом seed ответ один. Но нужно 210 обучений. Для kNN это не страшно, у него нет обучения, а модель, которая обучается минуту, будет проверяться три с половиной часа. Для kNN с k = 9 получилось 184 из 210, те же 0,876.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Сколько блоков брать? Посмотрите на таблицу из задания К5. При K = 2 модель учится только на половине данных и работает хуже, чем итоговая модель, обученная на всех 210 объектах: оценка занижена, 0,848. При K = 5 и K = 10 модель видит 80 и 90 % данных, оценка 0,886. Стандартное отклонение по блокам растет с K, потому что блоки маленькие: при K = 10 в блоке 21 объект. Но это разброс отдельных блоков, а не итоговой оценки: при разных seed среднее для K = 10 колеблется даже меньше, чем для K = 5. Практическое правило: 5 или 10 блоков. По одному объекту – когда данных совсем мало и модель обучается быстро.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03. Теперь соединим кросс-валидацию с выбором гиперпараметров: перебор по сетке и полный протокол от выбора до итоговой оценки.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Перебор по сетке. Для каждого гиперпараметра задаем список значений: k от 1 до 39 через 2 и два вида расстояния. Сетка – все комбинации, здесь 20 × 2 = 40. Для каждой комбинации считаем кросс-валидацию и выбираем лучшую. Важно: все комбинации проверяются на одних и тех же блоках, иначе мы сравним не модели, а удачу при нарезке. Число обучений – комбинации, умноженные на K: 200. Добавим третий гиперпараметр с 10 значениями – станет 2000: сетка растет как произведение, поэтому при многих гиперпараметрах используют случайный поиск. В ноутбуке сетку строит функция make_grid, а перебор – grid_search, это задание К6.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Результат перебора для k. Слева, при k = 1, точность 0,829: один сосед повторяет любой шум, это переобучение. Справа, при больших k, точность падает до 0,84–0,85: голосуют далекие непохожие объекты, это недообучение. Посередине плато от 7 до 13, лучшее k = 13 с 0,890. Спросите: действительно ли k = 13 лучше k = 9? Разница 0,004 – один объект из 210, а стандартное отклонение 0,047, в десять раз больше. Модели на плато равноценны. Манхэттенское расстояние почти везде чуть хуже евклидова, но тоже в пределах разброса.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 же для дерева решений на Wine, задание К7. Глубина 1 – всего один вопрос, точность 0,68: одним порогом три сорта не разделить. Глубина 2 – уже 0,904, а с глубины 3 оценка перестает меняться: 0,912. С глубины 4 деревья в каждом раунде полностью одинаковые: все листья чистые, делить нечего. Функция grid_search при равенстве оставляет первую комбинацию, а сетка записана от простого к сложному, поэтому выбрана глубина 3 – самое простое из лучших деревьев. Затем обучаем дерево глубины 3 на всей обучающей выборке и один раз проверяем на тесте: 0,868. Это ниже 0,912, но тест из 53 вин, одно вино – почти 2 %, так что разница в пределах разброса.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Полный протокол – четыре шага, запишите их. Первый: отложить тест и не трогать. Второй: на обучающей выборке перебор по сетке с кросс-валидацией. Третий: обучить модель с лучшими гиперпараметрами заново на всей обучающей выборке. Четвертый: один раз проверить на тесте. Для kNN вышло k = 13 и 0,911 на тесте. В Б1.2 при k = 9 тест давал 0,933. Значит ли это, что кросс-валидация ошиблась? Нет: разница – 2 объекта из 90. И главное предупреждение: если перебрать k по тесту, лучшим окажется k = 23 с 0,944, хотя кросс-валидация для него дает только 0,867. Это подгонка под 90 конкретных объектов, и после нее независимой проверки у нас не останется.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Кросс-валидация честна, только если внутри нее нет утечки. Разберем подготовку данных внутри блоков, опасный пример с отбором признаков и вложенную кросс-валидацию.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Вспомните главное правило Б1.6: все, что вычисляется по данным, считаем только по обучающей выборке. В кросс-валидации роль теста играет валидационный блок, поэтому медиану, границы выбросов, μ и σ надо считать заново в каждом раунде, только по обучающей части раунда. Неправильно – подготовить всю таблицу один раз и потом запустить кросс-валидацию: тогда валидационный блок уже повлиял на подготовку. В ноутбуке это функция cross_val_score_prep, задание К8; в sklearn то же делает Pipeline. На «грязном» Wine полная подготовка внутри блоков дает 0,984, а без обработки выбросов – 0,816. Заметьте: параметр remove_outliers мы тоже выбрали кросс-валидацией, значит, это тоже гиперпараметр.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наглядный пример утечки, задание К9. Берем 60 объектов, 1000 признаков из случайных чисел и случайные ответы 0 и 1. Закономерности нет, честная модель угадывает в половине случаев. Отберем 10 признаков, которые сильнее всего отличаются у двух классов, и запустим кросс-валидацию kNN. Если отбирать по всей таблице, получаем 82 %! Если отбирать внутри каждого раунда, только по обучающей части, – 43 %, то есть угадывание. Откуда 82 %? Среди 1000 случайных признаков всегда найдутся случайно «удачные» для этих 60 объектов, и отбор по всей таблице выбрал их с учетом ответов валидационных блоков. На новых данных эти совпадения не повторятся. Правило из Б1.1 остается в силе: если оценка подозрительно хорошая, ищите утечку.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сильных учеников. Даже честная кросс-валидация немного завышает качество, если по ней выбирали: 0,890 – это максимум из 20 оценок, и мы выбрали k, которому повезло с этими блоками. Честно оценить всю процедуру выбора можно вложенной кросс-валидацией. Внешний цикл – 5 блоков для оценки. Внутри каждого внешнего раунда, только на его обучающей части, заново выполняем перебор k со своей внутренней кросс-валидацией, обучаем модель с найденным k и проверяем на внешнем блоке. Получается 0,857 ± 0,040, а во внешних раундах выбраны разные k: 7, 15, 5, 5, 17. Вложенная кросс-валидация оценивает не одну модель, а весь способ ее выбора. Это задание повышенной сложности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05. Переходим к практике: вся кросс-валидация пишется с нуля, модели kNN и дерево решений берем готовыми из прошлых работ.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ноутбук и этот план. Задания идут по порядку занятия, и каждое опирается на предыдущие. Темным выделены два главных: К3 – сама функция cross_val_score, на ней держится вся работа, и К9 – утечка на случайных числах. Модель в ноутбуке – это функция model(X_train, y_train, X_val, params), гиперпараметры передаются словарем, поэтому одна кросс-валидация подходит и для kNN, и для дерева. После каждой функции печатается строка «ожидается», числа совпадают со слайдами. Правило то же: внутри функций только списки, словари, циклы, math и random, а sklearn появляется лишь в последнем задании для сверки.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2–3 учеников своими словами объяснить, чем параметры отличаются от гиперпараметров, почему одной валидации мало и как устроена кросс-валидация. Если в ответах есть слова «разброс», «каждый объект один раз в валидации», «стратификация», «тест один раз» и «утечка» – тема усвоена. Домашнее задание: закончить практическую работу; сильным – задания повышенной сложности: вложенная кросс-валидация, повторная кросс-валидация, правило одной стандартной ошибки, случайный поиск и кадры одного видео. На следующем занятии, Б2.2, построим с помощью своей кросс-валидации кривые валидации и обучения и разберемся с переобучением и регуляризацией.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Кросс-валидация и подбор гиперпараметров: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честно выбрать модель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9601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754880" y="960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5087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«В Б1.2 мы выбрали k = 9 и получили 92 % на валидации. Что будет, если перемешать данные по-другому?»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30175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точка – оценка той же модели kNN (k = 9) на другой случайной валидационной выборке из 63 объектов. Синий столбик – 92 %, как в Б1.2. Всего 100 разбиений.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Одной валидации мало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и гиперпараметры, разброс оценки на одной выборке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и гиперпараметры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0972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сама модель во время обучения, по обучающей выборке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10972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Гиперпараметры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2763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задает человек до обучения; модель их не меняет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23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Параметры: учит модель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Гиперпараметры: задаем мы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(Б1.2)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нет: модель просто хранит обучающую выборку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число соседей k, вид расстояния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Логистическая регрессия (Б1.3)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веса признаков и сдвиг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 обучения, число шагов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Дерево решений (Б1.4)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вопросы и пороги в узлах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максимальная глубина 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обучающей выборке гиперпараметры не выбрать: kNN с k = 1 и дерево без ограничения глубины там всегда получают 100 %.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 разбиений – сто разных ответов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kNN, k = 9: 147 объектов в обучении, 63 в валидации; меняется только seed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35040" y="1097280"/>
            <a:ext cx="265176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79 % … 95 %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6276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и та же модель, 100 разных seed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35040" y="219456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3,6 %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стандартное отклонение оценки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35040" y="3291840"/>
            <a:ext cx="265176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17920" y="3383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объект = 1,6 %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валидации всего 63 объекта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Лучшее k зависит от случая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Какое k выбирает одна валидационная выборка при seed = 0, 1, …, 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0584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5448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0312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0312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65176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200400" y="150876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4904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4904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70332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6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297680" y="150876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9768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7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84632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8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394960" y="150876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94960" y="15087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1965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9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57200" y="246888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1148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10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005840" y="246888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0584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6012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11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55448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55448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50876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12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103120" y="246888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0312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205740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13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65176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5176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260604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200400" y="2468880"/>
            <a:ext cx="457200" cy="402336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20040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315468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4904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74904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370332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16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29768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29768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425196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17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84632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84632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18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394960" y="2468880"/>
            <a:ext cx="457200" cy="402336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394960" y="2468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5349240" y="29260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19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172200" y="1097280"/>
            <a:ext cx="2514600" cy="26517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6355080" y="12344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разных k</a:t>
            </a:r>
            <a:endParaRPr lang="en-US" sz="2000" dirty="0"/>
          </a:p>
        </p:txBody>
      </p:sp>
      <p:sp>
        <p:nvSpPr>
          <p:cNvPr id="67" name="Text 65"/>
          <p:cNvSpPr txBox="1"/>
          <p:nvPr/>
        </p:nvSpPr>
        <p:spPr>
          <a:xfrm>
            <a:off x="6355080" y="166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20 повторов: от 3 до 19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6355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из 20</a:t>
            </a:r>
            <a:endParaRPr lang="en-US" sz="2000" dirty="0"/>
          </a:p>
        </p:txBody>
      </p:sp>
      <p:sp>
        <p:nvSpPr>
          <p:cNvPr id="69" name="Text 67"/>
          <p:cNvSpPr txBox="1"/>
          <p:nvPr/>
        </p:nvSpPr>
        <p:spPr>
          <a:xfrm>
            <a:off x="6355080" y="2624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выбрано k = 9, как в Б1.2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635508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Разница между соседними k меньше, чем случайный разброс оценки.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40080" y="3931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по одной валидации во многом определяется случаем. Нужна оценка, которая опирается на все данные.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4" name="Text 7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Кросс-валидация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блоков, стратификация и скользящий контроль по одному объекту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K-БЛОЧНАЯ КРОСС-ВАЛИДАЦИЯ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объект – один раз в валидации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8720" y="1188720"/>
            <a:ext cx="694944" cy="347472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38528" y="11887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88336" y="11887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1887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87952" y="11887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188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 = 0,881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6459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8720" y="16459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645920"/>
            <a:ext cx="694944" cy="347472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88336" y="16459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38144" y="16459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87952" y="16459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16459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= 0,905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1031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88720" y="21031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38528" y="21031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88336" y="2103120"/>
            <a:ext cx="694944" cy="347472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38144" y="21031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21031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83480" y="2103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 = 0,881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560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88720" y="25603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38528" y="25603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88336" y="25603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38144" y="2560320"/>
            <a:ext cx="694944" cy="347472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87952" y="25603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8348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= 0,833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30175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188720" y="30175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38528" y="30175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88336" y="30175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38144" y="3017520"/>
            <a:ext cx="694944" cy="34747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87952" y="3017520"/>
            <a:ext cx="694944" cy="347472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983480" y="30175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= 0,881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188720" y="3675888"/>
            <a:ext cx="4709160" cy="420624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88720" y="3675888"/>
            <a:ext cx="4709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(a1 + a2 + a3 + a4 + a5) / 5 = 0,876 ± 0,023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88720" y="3493008"/>
            <a:ext cx="128016" cy="9144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371600" y="3447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валидационный блок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26080" y="3493008"/>
            <a:ext cx="128016" cy="9144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08960" y="3447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обучающие блоки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72200" y="1188720"/>
            <a:ext cx="2514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09360" y="13258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09360" y="13258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812280" y="13075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Нарезать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12280" y="16002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перемешать номера и разрезать на K блоков почти равного размера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09360" y="219456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09360" y="219456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812280" y="2176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раундов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681228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i – валидация, остальные K − 1 – обучение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09360" y="306324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09360" y="30632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6812280" y="30449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Усреднить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81228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– среднее точностей, σ – разброс по блокам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блоков – большая K, число соседей – маленькая k.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60" name="Text 5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 БЛОКОВ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Перемешать и разрезать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10 объектов, K = 3 блока, seed = 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порядку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56816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5681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59152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5915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61488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148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63824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6382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68496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68496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0832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70832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73168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75504" y="1463040"/>
            <a:ext cx="365760" cy="36576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75504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перемешали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54480" y="2148840"/>
            <a:ext cx="36576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5544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56816" y="2148840"/>
            <a:ext cx="36576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95681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59152" y="2148840"/>
            <a:ext cx="36576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35915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61488" y="2148840"/>
            <a:ext cx="365760" cy="36576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6148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63824" y="2148840"/>
            <a:ext cx="365760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6382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2148840"/>
            <a:ext cx="365760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661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968496" y="2148840"/>
            <a:ext cx="365760" cy="3657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6849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70832" y="2148840"/>
            <a:ext cx="365760" cy="36576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370832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73168" y="2148840"/>
            <a:ext cx="365760" cy="36576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77316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75504" y="2148840"/>
            <a:ext cx="365760" cy="365760"/>
          </a:xfrm>
          <a:prstGeom prst="rect">
            <a:avLst/>
          </a:prstGeom>
          <a:solidFill>
            <a:srgbClr val="969CA3"/>
          </a:solidFill>
          <a:ln w="12700">
            <a:solidFill>
              <a:srgbClr val="969CA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175504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554480" y="257860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1: 4 номера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3163824" y="257860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2: 3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4370832" y="257860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3: 3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" y="3017520"/>
            <a:ext cx="5029200" cy="118872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64008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Размер блока i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3429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// K, и еще один объект, если i &lt; n % K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3749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/ 5 → 42 × 5;   11 / 3 → 4, 4, 3;   10 / 3 → 4, 3, 3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760720" y="1097280"/>
            <a:ext cx="2926080" cy="310896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943600" y="120700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К2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5943600" y="146304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k_fold_indices(n, K, seed):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 = list(range(n))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random.Random(seed)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.shuffle(idx)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folds, start = [],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range(K):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 = n // K + (1 if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i &lt; n % K else 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folds.append(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idx[start:start+size])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 += size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folds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58" name="Text 5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ВМЕСТЕ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валидация против пяти блоков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1097280"/>
                <a:gridCol w="1097280"/>
                <a:gridCol w="10972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угадано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из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из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из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из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из 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 из 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63C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560320"/>
            <a:ext cx="2651760" cy="13716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26700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валидация из Б1.2: 63 объекта, удачный seed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91840" y="2560320"/>
            <a:ext cx="2651760" cy="13716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74720" y="26700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0,876 ± 0,023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3200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кросс-валидация: все 210 объектов, 5 обучений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60604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по ста одиночным валидациям – 0,869: удачный seed завысил оценку почти на полтора σ.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184 / 210: каждый объект проверен ровно один раз.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СТРАТИФИКАЦИЯ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Редкий класс – в каждый блок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3949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объект: 67 пешеходов, 10 велосипедистов, 74 автомобиля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035040" y="1097280"/>
            <a:ext cx="2651760" cy="10972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217920" y="1188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из 100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6276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обычных нарезок оставляют блок без единого велосипедиста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6517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217920" y="2468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Алгоритм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834640"/>
            <a:ext cx="329184" cy="29260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2834640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6656832" y="28346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разложить номера по классам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17920" y="3264408"/>
            <a:ext cx="329184" cy="29260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0" y="326440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656832" y="326440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перемешать внутри класса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694176"/>
            <a:ext cx="329184" cy="29260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0" y="3694176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6656832" y="369417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раздавать по блокам по кругу, как карты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СКОЛЬЗЯЩИЙ КОНТРОЛЬ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одному объекту: K = 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188720" y="1234440"/>
            <a:ext cx="192024" cy="27432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23444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1645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1887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17320" y="1645920"/>
            <a:ext cx="192024" cy="27432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459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889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033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319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605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177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463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749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035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32120" y="164592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76072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1887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173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645920" y="2057400"/>
            <a:ext cx="192024" cy="27432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745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031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3317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603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889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175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2461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033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319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605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891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177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463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749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035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532120" y="205740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76072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3017520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572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210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11887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4173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6459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8745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031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317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5603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7889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0175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461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4747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033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319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05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891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6177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463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0749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03520" y="2697480"/>
            <a:ext cx="192024" cy="27432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32120" y="2697480"/>
            <a:ext cx="192024" cy="274320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7607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6263640" y="11887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263640" y="11887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681228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случайности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812280" y="14447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перемешивать нечего: при любом seed один ответ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263640" y="187452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263640" y="18745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6812280" y="1856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Почти все данные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812280" y="21305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учится на 209 объектах из 210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263640" y="2560320"/>
            <a:ext cx="411480" cy="365760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6263640" y="25603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3" name="Text 101"/>
          <p:cNvSpPr txBox="1"/>
          <p:nvPr/>
        </p:nvSpPr>
        <p:spPr>
          <a:xfrm>
            <a:off x="6812280" y="2542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обучений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812280" y="28163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раз: для kNN быстро, для медленных моделей долго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457200" y="3611880"/>
            <a:ext cx="822960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85800" y="36118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kNN, k = 9:  184 из 210,  CV = 0,876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5394960" y="36118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раунда – 1 или 0, среднее – доля угаданных объектов.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09" name="Text 10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БЛОКОВ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блоков взять?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2120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822960"/>
                <a:gridCol w="10515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обучение 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по блокам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обучений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 (50 %)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(67 %)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168 (80 %)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 (90 %)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(по одному)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3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143000"/>
            <a:ext cx="2697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72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Мало блоков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5361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учится на малой части данных, оценка занижена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89320" y="2121408"/>
            <a:ext cx="26974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172200" y="22128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Много блоков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72200" y="2514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дорого, а блоки крошечные: σ по блокам растет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89320" y="3099816"/>
            <a:ext cx="2697480" cy="841248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172200" y="31912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Стандарт: 5 или 10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34930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баланс точности оценки и времени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11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по блокам растет, но среднее от этого не хуже: при разных seed CV для K = 10 колеблется даже меньше.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Подбор гиперпараметров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по сетке и полный протокол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ПО СЕТКЕ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 комбинации – на одних и тех же блоках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→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 txBox="1"/>
          <p:nvPr/>
        </p:nvSpPr>
        <p:spPr>
          <a:xfrm>
            <a:off x="1677924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7" name="Text 5"/>
          <p:cNvSpPr txBox="1"/>
          <p:nvPr/>
        </p:nvSpPr>
        <p:spPr>
          <a:xfrm>
            <a:off x="1892808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2107692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322576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537460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2752344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2967228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3182112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00" dirty="0"/>
          </a:p>
        </p:txBody>
      </p:sp>
      <p:sp>
        <p:nvSpPr>
          <p:cNvPr id="14" name="Text 12"/>
          <p:cNvSpPr txBox="1"/>
          <p:nvPr/>
        </p:nvSpPr>
        <p:spPr>
          <a:xfrm>
            <a:off x="3396996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00" dirty="0"/>
          </a:p>
        </p:txBody>
      </p:sp>
      <p:sp>
        <p:nvSpPr>
          <p:cNvPr id="16" name="Text 14"/>
          <p:cNvSpPr txBox="1"/>
          <p:nvPr/>
        </p:nvSpPr>
        <p:spPr>
          <a:xfrm>
            <a:off x="3826764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256532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4471416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4686300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00" dirty="0"/>
          </a:p>
        </p:txBody>
      </p:sp>
      <p:sp>
        <p:nvSpPr>
          <p:cNvPr id="22" name="Text 20"/>
          <p:cNvSpPr txBox="1"/>
          <p:nvPr/>
        </p:nvSpPr>
        <p:spPr>
          <a:xfrm>
            <a:off x="5116068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700" dirty="0"/>
          </a:p>
        </p:txBody>
      </p:sp>
      <p:sp>
        <p:nvSpPr>
          <p:cNvPr id="23" name="Text 21"/>
          <p:cNvSpPr txBox="1"/>
          <p:nvPr/>
        </p:nvSpPr>
        <p:spPr>
          <a:xfrm>
            <a:off x="5330952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5545836" y="1143000"/>
            <a:ext cx="214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14173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евклидово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463040" y="1417320"/>
            <a:ext cx="196596" cy="402336"/>
          </a:xfrm>
          <a:prstGeom prst="rect">
            <a:avLst/>
          </a:prstGeom>
          <a:solidFill>
            <a:srgbClr val="D0E0F8"/>
          </a:solidFill>
          <a:ln w="12700">
            <a:solidFill>
              <a:srgbClr val="D0E0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77924" y="1417320"/>
            <a:ext cx="196596" cy="402336"/>
          </a:xfrm>
          <a:prstGeom prst="rect">
            <a:avLst/>
          </a:prstGeom>
          <a:solidFill>
            <a:srgbClr val="3975D0"/>
          </a:solidFill>
          <a:ln w="12700">
            <a:solidFill>
              <a:srgbClr val="3975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92808" y="14173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7692" y="1417320"/>
            <a:ext cx="196596" cy="402336"/>
          </a:xfrm>
          <a:prstGeom prst="rect">
            <a:avLst/>
          </a:prstGeom>
          <a:solidFill>
            <a:srgbClr val="2B6BCC"/>
          </a:solidFill>
          <a:ln w="12700">
            <a:solidFill>
              <a:srgbClr val="2B6B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22576" y="1417320"/>
            <a:ext cx="196596" cy="402336"/>
          </a:xfrm>
          <a:prstGeom prst="rect">
            <a:avLst/>
          </a:prstGeom>
          <a:solidFill>
            <a:srgbClr val="2B6BCC"/>
          </a:solidFill>
          <a:ln w="12700">
            <a:solidFill>
              <a:srgbClr val="2B6B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37460" y="14173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52344" y="1417320"/>
            <a:ext cx="196596" cy="402336"/>
          </a:xfrm>
          <a:prstGeom prst="rect">
            <a:avLst/>
          </a:prstGeom>
          <a:solidFill>
            <a:srgbClr val="1F63C9"/>
          </a:solidFill>
          <a:ln w="12700">
            <a:solidFill>
              <a:srgbClr val="1F63C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67228" y="14173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82112" y="1417320"/>
            <a:ext cx="196596" cy="402336"/>
          </a:xfrm>
          <a:prstGeom prst="rect">
            <a:avLst/>
          </a:prstGeom>
          <a:solidFill>
            <a:srgbClr val="7FA6E2"/>
          </a:solidFill>
          <a:ln w="12700">
            <a:solidFill>
              <a:srgbClr val="7FA6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96996" y="1417320"/>
            <a:ext cx="196596" cy="402336"/>
          </a:xfrm>
          <a:prstGeom prst="rect">
            <a:avLst/>
          </a:prstGeom>
          <a:solidFill>
            <a:srgbClr val="7FA6E2"/>
          </a:solidFill>
          <a:ln w="12700">
            <a:solidFill>
              <a:srgbClr val="7FA6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11880" y="1417320"/>
            <a:ext cx="196596" cy="402336"/>
          </a:xfrm>
          <a:prstGeom prst="rect">
            <a:avLst/>
          </a:prstGeom>
          <a:solidFill>
            <a:srgbClr val="568AD8"/>
          </a:solidFill>
          <a:ln w="12700">
            <a:solidFill>
              <a:srgbClr val="568A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26764" y="1417320"/>
            <a:ext cx="196596" cy="402336"/>
          </a:xfrm>
          <a:prstGeom prst="rect">
            <a:avLst/>
          </a:prstGeom>
          <a:solidFill>
            <a:srgbClr val="6292DB"/>
          </a:solidFill>
          <a:ln w="12700">
            <a:solidFill>
              <a:srgbClr val="6292D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41648" y="1417320"/>
            <a:ext cx="196596" cy="402336"/>
          </a:xfrm>
          <a:prstGeom prst="rect">
            <a:avLst/>
          </a:prstGeom>
          <a:solidFill>
            <a:srgbClr val="7FA6E2"/>
          </a:solidFill>
          <a:ln w="12700">
            <a:solidFill>
              <a:srgbClr val="7FA6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56532" y="1417320"/>
            <a:ext cx="196596" cy="402336"/>
          </a:xfrm>
          <a:prstGeom prst="rect">
            <a:avLst/>
          </a:prstGeom>
          <a:solidFill>
            <a:srgbClr val="99B9E9"/>
          </a:solidFill>
          <a:ln w="12700">
            <a:solidFill>
              <a:srgbClr val="99B9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71416" y="1417320"/>
            <a:ext cx="196596" cy="402336"/>
          </a:xfrm>
          <a:prstGeom prst="rect">
            <a:avLst/>
          </a:prstGeom>
          <a:solidFill>
            <a:srgbClr val="7FA6E2"/>
          </a:solidFill>
          <a:ln w="12700">
            <a:solidFill>
              <a:srgbClr val="7FA6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6300" y="1417320"/>
            <a:ext cx="196596" cy="402336"/>
          </a:xfrm>
          <a:prstGeom prst="rect">
            <a:avLst/>
          </a:prstGeom>
          <a:solidFill>
            <a:srgbClr val="8DB1E6"/>
          </a:solidFill>
          <a:ln w="12700">
            <a:solidFill>
              <a:srgbClr val="8DB1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1417320"/>
            <a:ext cx="196596" cy="402336"/>
          </a:xfrm>
          <a:prstGeom prst="rect">
            <a:avLst/>
          </a:prstGeom>
          <a:solidFill>
            <a:srgbClr val="8DB1E6"/>
          </a:solidFill>
          <a:ln w="12700">
            <a:solidFill>
              <a:srgbClr val="8DB1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16068" y="1417320"/>
            <a:ext cx="196596" cy="402336"/>
          </a:xfrm>
          <a:prstGeom prst="rect">
            <a:avLst/>
          </a:prstGeom>
          <a:solidFill>
            <a:srgbClr val="A7C3ED"/>
          </a:solidFill>
          <a:ln w="12700">
            <a:solidFill>
              <a:srgbClr val="A7C3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30952" y="1417320"/>
            <a:ext cx="196596" cy="402336"/>
          </a:xfrm>
          <a:prstGeom prst="rect">
            <a:avLst/>
          </a:prstGeom>
          <a:solidFill>
            <a:srgbClr val="B6CDF1"/>
          </a:solidFill>
          <a:ln w="12700">
            <a:solidFill>
              <a:srgbClr val="B6CDF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45836" y="1417320"/>
            <a:ext cx="196596" cy="402336"/>
          </a:xfrm>
          <a:prstGeom prst="rect">
            <a:avLst/>
          </a:prstGeom>
          <a:solidFill>
            <a:srgbClr val="99B9E9"/>
          </a:solidFill>
          <a:ln w="12700">
            <a:solidFill>
              <a:srgbClr val="99B9E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" y="18745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манхэттенское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463040" y="1874520"/>
            <a:ext cx="196596" cy="402336"/>
          </a:xfrm>
          <a:prstGeom prst="rect">
            <a:avLst/>
          </a:prstGeom>
          <a:solidFill>
            <a:srgbClr val="DEEAFC"/>
          </a:solidFill>
          <a:ln w="12700">
            <a:solidFill>
              <a:srgbClr val="DEEAF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77924" y="18745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892808" y="18745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07692" y="18745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22576" y="1874520"/>
            <a:ext cx="196596" cy="402336"/>
          </a:xfrm>
          <a:prstGeom prst="rect">
            <a:avLst/>
          </a:prstGeom>
          <a:solidFill>
            <a:srgbClr val="3975D0"/>
          </a:solidFill>
          <a:ln w="12700">
            <a:solidFill>
              <a:srgbClr val="3975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37460" y="1874520"/>
            <a:ext cx="196596" cy="402336"/>
          </a:xfrm>
          <a:prstGeom prst="rect">
            <a:avLst/>
          </a:prstGeom>
          <a:solidFill>
            <a:srgbClr val="3975D0"/>
          </a:solidFill>
          <a:ln w="12700">
            <a:solidFill>
              <a:srgbClr val="3975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52344" y="1874520"/>
            <a:ext cx="196596" cy="402336"/>
          </a:xfrm>
          <a:prstGeom prst="rect">
            <a:avLst/>
          </a:prstGeom>
          <a:solidFill>
            <a:srgbClr val="4880D4"/>
          </a:solidFill>
          <a:ln w="12700">
            <a:solidFill>
              <a:srgbClr val="4880D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67228" y="1874520"/>
            <a:ext cx="196596" cy="402336"/>
          </a:xfrm>
          <a:prstGeom prst="rect">
            <a:avLst/>
          </a:prstGeom>
          <a:solidFill>
            <a:srgbClr val="568AD8"/>
          </a:solidFill>
          <a:ln w="12700">
            <a:solidFill>
              <a:srgbClr val="568A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182112" y="1874520"/>
            <a:ext cx="196596" cy="402336"/>
          </a:xfrm>
          <a:prstGeom prst="rect">
            <a:avLst/>
          </a:prstGeom>
          <a:solidFill>
            <a:srgbClr val="6292DB"/>
          </a:solidFill>
          <a:ln w="12700">
            <a:solidFill>
              <a:srgbClr val="6292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96996" y="1874520"/>
            <a:ext cx="196596" cy="402336"/>
          </a:xfrm>
          <a:prstGeom prst="rect">
            <a:avLst/>
          </a:prstGeom>
          <a:solidFill>
            <a:srgbClr val="709CDF"/>
          </a:solidFill>
          <a:ln w="12700">
            <a:solidFill>
              <a:srgbClr val="709CD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11880" y="1874520"/>
            <a:ext cx="196596" cy="402336"/>
          </a:xfrm>
          <a:prstGeom prst="rect">
            <a:avLst/>
          </a:prstGeom>
          <a:solidFill>
            <a:srgbClr val="6292DB"/>
          </a:solidFill>
          <a:ln w="12700">
            <a:solidFill>
              <a:srgbClr val="6292D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26764" y="1874520"/>
            <a:ext cx="196596" cy="402336"/>
          </a:xfrm>
          <a:prstGeom prst="rect">
            <a:avLst/>
          </a:prstGeom>
          <a:solidFill>
            <a:srgbClr val="709CDF"/>
          </a:solidFill>
          <a:ln w="12700">
            <a:solidFill>
              <a:srgbClr val="709C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41648" y="1874520"/>
            <a:ext cx="196596" cy="402336"/>
          </a:xfrm>
          <a:prstGeom prst="rect">
            <a:avLst/>
          </a:prstGeom>
          <a:solidFill>
            <a:srgbClr val="7FA6E2"/>
          </a:solidFill>
          <a:ln w="12700">
            <a:solidFill>
              <a:srgbClr val="7FA6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56532" y="1874520"/>
            <a:ext cx="196596" cy="402336"/>
          </a:xfrm>
          <a:prstGeom prst="rect">
            <a:avLst/>
          </a:prstGeom>
          <a:solidFill>
            <a:srgbClr val="8DB1E6"/>
          </a:solidFill>
          <a:ln w="12700">
            <a:solidFill>
              <a:srgbClr val="8DB1E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71416" y="1874520"/>
            <a:ext cx="196596" cy="402336"/>
          </a:xfrm>
          <a:prstGeom prst="rect">
            <a:avLst/>
          </a:prstGeom>
          <a:solidFill>
            <a:srgbClr val="99B9E9"/>
          </a:solidFill>
          <a:ln w="12700">
            <a:solidFill>
              <a:srgbClr val="99B9E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86300" y="1874520"/>
            <a:ext cx="196596" cy="402336"/>
          </a:xfrm>
          <a:prstGeom prst="rect">
            <a:avLst/>
          </a:prstGeom>
          <a:solidFill>
            <a:srgbClr val="99B9E9"/>
          </a:solidFill>
          <a:ln w="12700">
            <a:solidFill>
              <a:srgbClr val="99B9E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901184" y="1874520"/>
            <a:ext cx="196596" cy="402336"/>
          </a:xfrm>
          <a:prstGeom prst="rect">
            <a:avLst/>
          </a:prstGeom>
          <a:solidFill>
            <a:srgbClr val="99B9E9"/>
          </a:solidFill>
          <a:ln w="12700">
            <a:solidFill>
              <a:srgbClr val="99B9E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16068" y="1874520"/>
            <a:ext cx="196596" cy="402336"/>
          </a:xfrm>
          <a:prstGeom prst="rect">
            <a:avLst/>
          </a:prstGeom>
          <a:solidFill>
            <a:srgbClr val="A7C3ED"/>
          </a:solidFill>
          <a:ln w="12700">
            <a:solidFill>
              <a:srgbClr val="A7C3E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330952" y="1874520"/>
            <a:ext cx="196596" cy="402336"/>
          </a:xfrm>
          <a:prstGeom prst="rect">
            <a:avLst/>
          </a:prstGeom>
          <a:solidFill>
            <a:srgbClr val="B6CDF1"/>
          </a:solidFill>
          <a:ln w="12700">
            <a:solidFill>
              <a:srgbClr val="B6CDF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545836" y="1874520"/>
            <a:ext cx="196596" cy="402336"/>
          </a:xfrm>
          <a:prstGeom prst="rect">
            <a:avLst/>
          </a:prstGeom>
          <a:solidFill>
            <a:srgbClr val="A7C3ED"/>
          </a:solidFill>
          <a:ln w="12700">
            <a:solidFill>
              <a:srgbClr val="A7C3E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24912" y="1389888"/>
            <a:ext cx="251460" cy="457200"/>
          </a:xfrm>
          <a:prstGeom prst="rect">
            <a:avLst/>
          </a:prstGeom>
          <a:ln w="25400">
            <a:solidFill>
              <a:srgbClr val="0F1B2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57200" y="23774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 – оценка CV: чем темнее, тем выше; рамка – лучшая комбинация k = 13, евклидово, 0,890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57200" y="2743200"/>
            <a:ext cx="5577840" cy="14630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40080" y="285292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К6</a:t>
            </a:r>
            <a:endParaRPr lang="en-US" sz="75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310896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make_grid({'k': [1, 3], 'dist': ['euclidean', 'manhattan']})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[{'k': 1, 'dist': 'euclidean'}, {'k': 1, 'dist': 'manhattan'},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{'k': 3, 'dist': 'euclidean'}, {'k': 3, 'dist': 'manhattan'}]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best, results = grid_search(knn_model, X, y, folds, grid)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6309360" y="1143000"/>
            <a:ext cx="2377440" cy="30632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 txBox="1"/>
          <p:nvPr/>
        </p:nvSpPr>
        <p:spPr>
          <a:xfrm>
            <a:off x="6492240" y="1252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ОБУЧЕНИЙ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6492240" y="1554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комбинаций × K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64922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× 2 × 5 = 200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492240" y="25146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1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Третий гиперпараметр с 10 значениями – уже 2000 обучений. Сетка растет как произведение.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8" name="Text 7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КРИВАЯ КРОСС-ВАЛИДАЦИИ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Выбираем k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13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0,890 ± 0,047: лучшее по сетке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214884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240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плато 7–13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679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0,886 и 0,890: разница в один объект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26480" y="3200400"/>
            <a:ext cx="256032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309360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1: 0,829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730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сосед повторяет шум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РЕШЕНИЙ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Глубина дерева на Wine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5156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097280"/>
            <a:ext cx="2560320" cy="10058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3093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max_depth = 3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27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первая из равных, то есть самая простая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26480" y="2240280"/>
            <a:ext cx="2560320" cy="10058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30936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0,868 на тесте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7706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вина, проверка один раз; 1 вино = 1,9 %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4290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глубины 4 деревья в каждом раунде одинаковы: листья уже чистые, делить нечего.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ПРОТОКОЛ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сетки до теста – четыре шага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874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Отложить тест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объектов не трогаем до конца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874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0" y="128016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43200" y="1280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Сетка + CV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значений k × 5 блоков на 210 объектах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8745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80160"/>
            <a:ext cx="411480" cy="365760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280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Обучить заново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k = 13 на всех 210 объектах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182880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1143000"/>
            <a:ext cx="1874520" cy="18288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280160"/>
            <a:ext cx="411480" cy="365760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12801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 один раз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2148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0,911: это и есть оценка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200400"/>
            <a:ext cx="3977640" cy="109728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Б1.2: k = 9 и 0,933 на тесте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13 на тесте 0,911: разница – 2 объекта из 90, в пределах случайного разброса теста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3200400"/>
            <a:ext cx="3977640" cy="10972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8920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Подбор по тесту – самообман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4892040" y="36576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тесту лучшим было бы k = 23 с «0,944», хотя кросс-валидация для него дает 0,867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Утечка и честная оценка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данных внутри блоков, отбор признаков, вложенная кросс-валидация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ДАННЫХ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– внутри каждого блока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Неправильно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prepare(все данные) → CV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медиана, μ, σ и границы выбросов посчитаны вместе с валидационным блоком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977640" cy="12344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23444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23444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252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Правильно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6733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каждом раунде: fit → apply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подготовки – по обучающей части раунда, применяем к блоку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4937760" cy="169164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67004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К8: CROSS_VAL_SCORE_PREP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260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range(len(folds)):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X_tr, y_tr, X_val, y_val = split_by_fold(X, y, folds, i)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X_tr, X_val = prep(X_tr, X_val)   # только по X_tr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model(X_tr, y_tr, X_val, params)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scores.append(accuracy(y_val, y_pred))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2560320"/>
            <a:ext cx="301752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52160" y="26151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0,984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852160" y="2990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«грязный» Wine, полная подготовка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3474720"/>
            <a:ext cx="3017520" cy="77724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852160" y="352958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0,816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обработки выбросов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remove_outliers – тоже гиперпараметр: его выбирают кросс-валидацией.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82 % на случайных числах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377440" cy="310896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01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597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случайных признаков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79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181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случайные ответы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381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50 %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7764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честное угадывание</a:t>
            </a:r>
            <a:endParaRPr lang="en-US" sz="9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971800" y="1051560"/>
          <a:ext cx="3017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217920" y="118872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18872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Случайные совпадения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720840" y="1463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среди 1000 признаков найдутся случайно «удачные»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217920" y="2057400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205740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2039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Отбор видел ответы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23317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валидационные блоки повлияли на выбор признаков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17920" y="2926080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2926080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72084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 новых данных – 50 %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720840" y="32004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совпадения не повторятся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217920" y="3794760"/>
            <a:ext cx="2468880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C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Подозрительно хорошо? Ищите утечку.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Вложенная кросс-валидация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цикл: оценка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950976" cy="4114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63040" y="1371600"/>
            <a:ext cx="950976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63040" y="137160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950976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37160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1371600"/>
            <a:ext cx="950976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74720" y="137160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1371600"/>
            <a:ext cx="950976" cy="41148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37160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4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19202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цикл: перебор k по сетке на обучающей части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463040" y="2286000"/>
            <a:ext cx="768096" cy="246888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67712" y="2286000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2286000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77056" y="2286000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2286000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2587752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67712" y="2587752"/>
            <a:ext cx="768096" cy="246888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72384" y="2587752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77056" y="2587752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1728" y="2587752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63040" y="2889504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67712" y="2889504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72384" y="2889504"/>
            <a:ext cx="768096" cy="246888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77056" y="2889504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1728" y="2889504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0" y="3191256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67712" y="3191256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2384" y="3191256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77056" y="3191256"/>
            <a:ext cx="768096" cy="246888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81728" y="3191256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63040" y="3493008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67712" y="3493008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72384" y="3493008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77056" y="3493008"/>
            <a:ext cx="768096" cy="246888"/>
          </a:xfrm>
          <a:prstGeom prst="rect">
            <a:avLst/>
          </a:prstGeom>
          <a:solidFill>
            <a:srgbClr val="D5E6FF"/>
          </a:solidFill>
          <a:ln w="12700">
            <a:solidFill>
              <a:srgbClr val="D5E6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1728" y="3493008"/>
            <a:ext cx="768096" cy="246888"/>
          </a:xfrm>
          <a:prstGeom prst="rect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1783080"/>
            <a:ext cx="0" cy="457200"/>
          </a:xfrm>
          <a:prstGeom prst="line">
            <a:avLst/>
          </a:prstGeom>
          <a:noFill/>
          <a:ln w="12700">
            <a:solidFill>
              <a:srgbClr val="969CA3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477256" y="1783080"/>
            <a:ext cx="0" cy="457200"/>
          </a:xfrm>
          <a:prstGeom prst="line">
            <a:avLst/>
          </a:prstGeom>
          <a:noFill/>
          <a:ln w="12700">
            <a:solidFill>
              <a:srgbClr val="969CA3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5852160" y="1097280"/>
            <a:ext cx="2834640" cy="914400"/>
          </a:xfrm>
          <a:prstGeom prst="rect">
            <a:avLst/>
          </a:prstGeom>
          <a:solidFill>
            <a:srgbClr val="EAF2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6035040" y="11704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0,890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1609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по сетке: максимум из 20 оценок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52160" y="2148840"/>
            <a:ext cx="2834640" cy="91440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6035040" y="2221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0,857 ± 0,040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6035040" y="26609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вложенная CV: оценка всей процедуры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852160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выбранные k во внешних раундах: 7, 15, 5, 5, 17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Выбрали лучшее из многих – значит, выбрали и удачу. Честная оценка процедуры ниже.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52" name="Text 50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se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кросс-валидация своими руками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Одиннадцать заданий: от одной валидации до полного протокола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Одиннадцать заданий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1615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1615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070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Разброс одной валидации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mean_std · holdout_score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21615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1615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К2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2070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Нарезка блоков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k_fold_indices · split_by_fold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6596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216152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1615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2070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Кросс-валидация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21615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1615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К4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20700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Редкий класс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645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stratified_k_fold_indices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7200" y="210312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22199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2219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К5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блоков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loo_folds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560320" y="210312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97480" y="222199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97480" y="22219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К6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Перебор по сетке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69748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make_grid · grid_search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663440" y="210312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22199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00600" y="22219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дерева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протокол на Wine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766560" y="210312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03720" y="222199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222199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К8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7360920" y="22128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в блоках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90372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cross_val_score_prep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57200" y="3108960"/>
            <a:ext cx="1965960" cy="868680"/>
          </a:xfrm>
          <a:prstGeom prst="rect">
            <a:avLst/>
          </a:prstGeom>
          <a:solidFill>
            <a:srgbClr val="0F1B2D"/>
          </a:solidFill>
          <a:ln w="9525">
            <a:solidFill>
              <a:srgbClr val="0F1B2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94360" y="3227832"/>
            <a:ext cx="384048" cy="338328"/>
          </a:xfrm>
          <a:prstGeom prst="hexagon">
            <a:avLst/>
          </a:prstGeom>
          <a:solidFill>
            <a:srgbClr val="4C9BFF"/>
          </a:solidFill>
          <a:ln w="12700">
            <a:solidFill>
              <a:srgbClr val="4C9B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94360" y="322783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К9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Утечка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4C9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fit_selector · apply_selector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60320" y="310896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697480" y="322783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2697480" y="322783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К10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315468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 разбиений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269748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сравнение разброса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663440" y="310896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00600" y="3227832"/>
            <a:ext cx="384048" cy="338328"/>
          </a:xfrm>
          <a:prstGeom prst="hexagon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800600" y="322783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К11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25780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протокол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480060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 и сверка со sklearn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766560" y="3108960"/>
            <a:ext cx="19659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3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903720" y="3227832"/>
            <a:ext cx="384048" cy="338328"/>
          </a:xfrm>
          <a:prstGeom prst="hexagon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903720" y="3227832"/>
            <a:ext cx="384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800" dirty="0"/>
          </a:p>
        </p:txBody>
      </p:sp>
      <p:sp>
        <p:nvSpPr>
          <p:cNvPr id="62" name="Text 60"/>
          <p:cNvSpPr txBox="1"/>
          <p:nvPr/>
        </p:nvSpPr>
        <p:spPr>
          <a:xfrm>
            <a:off x="736092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Повышенная сложность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9037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вложенная кросс-валидация</a:t>
            </a:r>
            <a:endParaRPr lang="en-US" sz="700" dirty="0"/>
          </a:p>
        </p:txBody>
      </p:sp>
      <p:sp>
        <p:nvSpPr>
          <p:cNvPr id="64" name="Text 62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функций – только списки, словари, циклы, math и random. После каждой функции – строка «ожидается».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Параметры и гиперпараметры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 модель / задает человек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валидация – лотерея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79 % до 95 % для одной модели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блоков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объект один раз в валидации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Стратификация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редкий класс – в каждый блок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Сетка на одних блоках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по CV, тест – один раз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9B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Подготовка внутри блоков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утечка и 82 % на шуме</a:t>
            </a:r>
            <a:endParaRPr lang="en-US" sz="900" dirty="0"/>
          </a:p>
        </p:txBody>
      </p:sp>
      <p:pic>
        <p:nvPicPr>
          <p:cNvPr id="22" name="Image 0" descr="img/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86F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2 · Кросс-валидация и подбор гиперпараметров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6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Кросс-валидация и подбор гиперпараметров</dc:title>
  <dc:subject>PptxGenJS Presentation</dc:subject>
  <dc:creator>PptxGenJS</dc:creator>
  <cp:lastModifiedBy>PptxGenJS</cp:lastModifiedBy>
  <cp:revision>1</cp:revision>
  <dcterms:created xsi:type="dcterms:W3CDTF">2026-09-30T06:11:13Z</dcterms:created>
  <dcterms:modified xsi:type="dcterms:W3CDTF">2026-09-30T06:11:13Z</dcterms:modified>
</cp:coreProperties>
</file>